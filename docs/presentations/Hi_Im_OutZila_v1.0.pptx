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92461ef0c7494e" /><Relationship Type="http://schemas.openxmlformats.org/officeDocument/2006/relationships/extended-properties" Target="/docProps/app.xml" Id="R6b98bf23495d4af3" /><Relationship Type="http://schemas.openxmlformats.org/officeDocument/2006/relationships/officeDocument" Target="/ppt/presentation.xml" Id="Ref4dd717966749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211f69d2004596"/>
  </p:sldMasterIdLst>
  <p:notesMasterIdLst>
    <p:notesMasterId xmlns:r="http://schemas.openxmlformats.org/officeDocument/2006/relationships" r:id="R91c968e0f6f04aaf"/>
  </p:notesMasterIdLst>
  <p:sldIdLst>
    <p:sldId xmlns:r="http://schemas.openxmlformats.org/officeDocument/2006/relationships" id="256" r:id="R264e4f53a7bb425d"/>
    <p:sldId xmlns:r="http://schemas.openxmlformats.org/officeDocument/2006/relationships" id="257" r:id="Ra13dbbe4745c41f0"/>
    <p:sldId xmlns:r="http://schemas.openxmlformats.org/officeDocument/2006/relationships" id="258" r:id="R4153e124d19c4eff"/>
    <p:sldId xmlns:r="http://schemas.openxmlformats.org/officeDocument/2006/relationships" id="259" r:id="Rb6edff3aa6804e03"/>
    <p:sldId xmlns:r="http://schemas.openxmlformats.org/officeDocument/2006/relationships" id="260" r:id="R3e5f1ff1b58f4c43"/>
    <p:sldId xmlns:r="http://schemas.openxmlformats.org/officeDocument/2006/relationships" id="261" r:id="Rbed96b3c85974530"/>
    <p:sldId xmlns:r="http://schemas.openxmlformats.org/officeDocument/2006/relationships" id="262" r:id="R3cd29200612e444b"/>
    <p:sldId xmlns:r="http://schemas.openxmlformats.org/officeDocument/2006/relationships" id="263" r:id="Re738794095354e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f101828329462b" /><Relationship Type="http://schemas.openxmlformats.org/officeDocument/2006/relationships/slideMaster" Target="/ppt/slideMasters/slideMaster1.xml" Id="Rb3211f69d2004596" /><Relationship Type="http://schemas.openxmlformats.org/officeDocument/2006/relationships/notesMaster" Target="/ppt/notesMasters/notesMaster1.xml" Id="R91c968e0f6f04aaf" /><Relationship Type="http://schemas.openxmlformats.org/officeDocument/2006/relationships/presProps" Target="/ppt/presProps.xml" Id="R2bc5bbcaadab458f" /><Relationship Type="http://schemas.openxmlformats.org/officeDocument/2006/relationships/tableStyles" Target="/ppt/tableStyles.xml" Id="R0a0e901ebfcf46ed" /><Relationship Type="http://schemas.openxmlformats.org/officeDocument/2006/relationships/slide" Target="/ppt/slides/slide1.xml" Id="R264e4f53a7bb425d" /><Relationship Type="http://schemas.openxmlformats.org/officeDocument/2006/relationships/slide" Target="/ppt/slides/slide2.xml" Id="Ra13dbbe4745c41f0" /><Relationship Type="http://schemas.openxmlformats.org/officeDocument/2006/relationships/slide" Target="/ppt/slides/slide3.xml" Id="R4153e124d19c4eff" /><Relationship Type="http://schemas.openxmlformats.org/officeDocument/2006/relationships/slide" Target="/ppt/slides/slide4.xml" Id="Rb6edff3aa6804e03" /><Relationship Type="http://schemas.openxmlformats.org/officeDocument/2006/relationships/slide" Target="/ppt/slides/slide5.xml" Id="R3e5f1ff1b58f4c43" /><Relationship Type="http://schemas.openxmlformats.org/officeDocument/2006/relationships/slide" Target="/ppt/slides/slide6.xml" Id="Rbed96b3c85974530" /><Relationship Type="http://schemas.openxmlformats.org/officeDocument/2006/relationships/slide" Target="/ppt/slides/slide7.xml" Id="R3cd29200612e444b" /><Relationship Type="http://schemas.openxmlformats.org/officeDocument/2006/relationships/slide" Target="/ppt/slides/slide8.xml" Id="Re738794095354e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87f334f9274f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65871aa06c4025" /><Relationship Type="http://schemas.openxmlformats.org/officeDocument/2006/relationships/notesMaster" Target="/ppt/notesMasters/notesMaster1.xml" Id="Rf548f9f660b241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61fc7e2c71452b" /><Relationship Type="http://schemas.openxmlformats.org/officeDocument/2006/relationships/notesMaster" Target="/ppt/notesMasters/notesMaster1.xml" Id="Rbefbbd85ec7248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662125b7084c76" /><Relationship Type="http://schemas.openxmlformats.org/officeDocument/2006/relationships/notesMaster" Target="/ppt/notesMasters/notesMaster1.xml" Id="R710befc45cae4a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821a78e58d4da0" /><Relationship Type="http://schemas.openxmlformats.org/officeDocument/2006/relationships/notesMaster" Target="/ppt/notesMasters/notesMaster1.xml" Id="Ra99f8a4ae3fb49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47d32993fc4e01" /><Relationship Type="http://schemas.openxmlformats.org/officeDocument/2006/relationships/notesMaster" Target="/ppt/notesMasters/notesMaster1.xml" Id="Rfc34db0fee594b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7bf499751d417d" /><Relationship Type="http://schemas.openxmlformats.org/officeDocument/2006/relationships/notesMaster" Target="/ppt/notesMasters/notesMaster1.xml" Id="Rfe72079629884a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af900fe3834f34" /><Relationship Type="http://schemas.openxmlformats.org/officeDocument/2006/relationships/notesMaster" Target="/ppt/notesMasters/notesMaster1.xml" Id="Ra9fa123a6c7b44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31ef7c33b84ba5" /><Relationship Type="http://schemas.openxmlformats.org/officeDocument/2006/relationships/notesMaster" Target="/ppt/notesMasters/notesMaster1.xml" Id="R753db1c0032a46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estratégica. Dados financeiros são hipóteses de planeamento em setembro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 e proposta de valor. Não implica que as integrações de produção já estejam ativas.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Cadeia de evidência oficial: identidade verificada, contrato assinado, pagamento validado, entrega documentada e devolução documentada.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aceitação final depende de identificação, estado, risco, logística e aceitação da seguradora.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comissão de distribuição depende de acordo com a seguradora e de enquadramento regulatório. A OutZila não financia 30% do prémio.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Portugal não é o limite geográfico. A expansão depende de validação de produto, risco, conformidade e capacidade do parceiro.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docs/strategy/OutZila_Business_Plan_v1.0.md. Todas as figuras são hipóteses de planeamento, não resultados realizados.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objetivo é um term sheet que defina coberturas, exclusões, capitais, franquias, pricing, emissão, sinistros, dados necessários e responsabilidades regulatórias.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7ef5fa4b544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7d664690304e68" /><Relationship Type="http://schemas.openxmlformats.org/officeDocument/2006/relationships/slideLayout" Target="/ppt/slideLayouts/slideLayout1.xml" Id="R171abd37f16f4a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1abd37f16f4a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9ba07d51f4670" /><Relationship Type="http://schemas.openxmlformats.org/officeDocument/2006/relationships/notesSlide" Target="/ppt/notesSlides/notesSlide1.xml" Id="R5da1a64f054249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cb0a0066740a7" /><Relationship Type="http://schemas.openxmlformats.org/officeDocument/2006/relationships/notesSlide" Target="/ppt/notesSlides/notesSlide2.xml" Id="R6973ce8dfc2f4d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cc16c5ca94afd" /><Relationship Type="http://schemas.openxmlformats.org/officeDocument/2006/relationships/notesSlide" Target="/ppt/notesSlides/notesSlide3.xml" Id="Rd54da492e96d4f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eb5f3627b4cc1" /><Relationship Type="http://schemas.openxmlformats.org/officeDocument/2006/relationships/notesSlide" Target="/ppt/notesSlides/notesSlide4.xml" Id="Rb395094bda1a41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8a47f603b4b5f" /><Relationship Type="http://schemas.openxmlformats.org/officeDocument/2006/relationships/notesSlide" Target="/ppt/notesSlides/notesSlide5.xml" Id="Rb986821beff345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29d28361a417a" /><Relationship Type="http://schemas.openxmlformats.org/officeDocument/2006/relationships/notesSlide" Target="/ppt/notesSlides/notesSlide6.xml" Id="Rebaf89550eba46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f471d328d4631" /><Relationship Type="http://schemas.openxmlformats.org/officeDocument/2006/relationships/notesSlide" Target="/ppt/notesSlides/notesSlide7.xml" Id="R09d165da734046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2d12d0cc5459f" /><Relationship Type="http://schemas.openxmlformats.org/officeDocument/2006/relationships/notesSlide" Target="/ppt/notesSlides/notesSlide8.xml" Id="R565505e1ae3b4d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9227E-8511-436F-BF9B-C9B04B44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6E06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6E06A"/>
                </a:solidFill>
                <a:latin typeface="Arial"/>
                <a:ea typeface="Arial"/>
                <a:cs typeface="Arial"/>
              </a:rPr>
              <a:t>OUTZILA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DA1DF-9197-432C-A1A8-ED518F56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Hi, I'm OutZila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C95F7-07EC-4532-82AB-233079F8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CE9E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9E1"/>
                </a:solidFill>
                <a:latin typeface="Arial"/>
                <a:ea typeface="Arial"/>
                <a:cs typeface="Arial"/>
              </a:rPr>
              <a:t>Aluguer protegido de equipamento premium de lazer outdoor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EE002-0F37-4AAC-BFEB-29223F1A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6E06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6E06A"/>
                </a:solidFill>
                <a:latin typeface="Arial"/>
                <a:ea typeface="Arial"/>
                <a:cs typeface="Arial"/>
              </a:rPr>
              <a:t>Portugal como piloto. Europa como destino.</a:t>
            </a:r>
          </a:p>
        </p:txBody>
      </p:sp>
    </p:spTree>
    <p:extLst>
      <p:ext uri="{BB962C8B-B14F-4D97-AF65-F5344CB8AC3E}">
        <p14:creationId xmlns:p14="http://schemas.microsoft.com/office/powerpoint/2010/main" val="282170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B88C5-F8EC-46CA-9EAC-DC088CE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OUTZILA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6ED8B-1218-41EE-B596-43101C4F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Equipamento premium usado apenas em momentos específicos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7D71E-615C-4FC3-A97C-A906AAF1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Comprar pode não fazer sentido. Alugar entre particulares exige uma operação em que ambas as partes confiem.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705E4-495B-4AC4-9FD8-A8388D5B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5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19D0E-05F3-43D8-8EF1-0C950067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6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O proprietário precisa de proteção para o equipamento e para o pagamento.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CC979-792E-4B61-BC03-C12196B6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146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O arrendatário precisa de preço claro, contrato, suporte e uma regra justa para caução e danos.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9FABB-0DD4-4A16-9561-AE4AF47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A OutZila cobra por estruturar essa relação, não por publicar um anúncio.</a:t>
            </a:r>
          </a:p>
        </p:txBody>
      </p:sp>
    </p:spTree>
    <p:extLst>
      <p:ext uri="{BB962C8B-B14F-4D97-AF65-F5344CB8AC3E}">
        <p14:creationId xmlns:p14="http://schemas.microsoft.com/office/powerpoint/2010/main" val="818744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95CA5-0423-41A4-89EA-AA9B7FF7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OUTZILA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5591F-4DB0-4D8A-907E-BF904C91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Uma operação com evidência em cada fase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CF406-9704-48A4-8E4E-715773E9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 plataforma acompanha a transação desde a verificação até à devolução.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7E16E-BF33-4C58-9047-176ACCCD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5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BF743-DA56-4FB7-9DDC-9F9370B9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865C5-1CA2-45D6-BE31-76CD88D6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Identidade verificada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F1651-7950-44BF-8E6A-C7C9FDD4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38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E57D5-E16B-467E-B598-884DCCC6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4671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0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Contrato assinado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45D4D-F521-4477-895B-1A46B03D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38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14296-9C3B-407C-AA2D-BF10B8E4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671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Pagamento validado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B1B50-6FB2-42B2-BF39-0873C37D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38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83178-14EB-42C6-B2E3-32EFA2C6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671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Entrega documentada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29F16-2CF1-406E-BE85-5B080B18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8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5EF10-D543-4F58-856A-1B832CDB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671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Devolução documentada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956ED-9833-4486-824C-FF5B37F6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Chat privado antes da confirmação. Evidência bilateral na recolha e na devolução. Prazo máximo de 24 horas para confirmar a devolução.</a:t>
            </a:r>
          </a:p>
        </p:txBody>
      </p:sp>
    </p:spTree>
    <p:extLst>
      <p:ext uri="{BB962C8B-B14F-4D97-AF65-F5344CB8AC3E}">
        <p14:creationId xmlns:p14="http://schemas.microsoft.com/office/powerpoint/2010/main" val="1449747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9502D-3520-4351-AE5E-B9210704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OUTZILA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AD541-A3D6-4F87-8F87-D011C329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Catálogo de lançamento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69359-C36C-49E6-8E50-46EFAB19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Itens individuais premium acima de 500 EUR, transportáveis e verificáveis.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A4DC7-8965-4728-960D-3A513E2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5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3D21C-0C2A-46ED-A8E3-88EBB6B1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Transporte outdoor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A3080-EE82-4B29-8207-19F9E682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malas de tejadilho, barras, suportes de bicicleta, caixas de carga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F6022-F425-4F7E-B429-EE172C40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Campismo e abrigo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A7D37-2C71-4918-B572-9DCBDAC9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tendas de tejadilho, tendas premium, toldos, frigoríficos portáteis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FE8A1-E50C-4969-9FBE-AB95FDB3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Desportos aquáticos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5EE97-A0F2-4A40-A2E4-DA00EE07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kayaks insufláveis ou dobráveis e SUPs premium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93B58-22E7-431C-A228-DDA5381F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Energia e autonomia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9B6CC-EACE-46D6-86CA-C6060434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387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estações de energia e painéis solares portáteis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6816D-EC95-42A9-8AF5-151165ED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540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03B"/>
                </a:solidFill>
                <a:latin typeface="Arial"/>
                <a:ea typeface="Arial"/>
                <a:cs typeface="Arial"/>
              </a:rPr>
              <a:t>Não entram no lançamento kits completos de campismo, ski ou snowboard, nem veículos.</a:t>
            </a:r>
          </a:p>
        </p:txBody>
      </p:sp>
    </p:spTree>
    <p:extLst>
      <p:ext uri="{BB962C8B-B14F-4D97-AF65-F5344CB8AC3E}">
        <p14:creationId xmlns:p14="http://schemas.microsoft.com/office/powerpoint/2010/main" val="230093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E9349-5925-4581-988F-973F3EE5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OUTZILA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0379F-72AE-4882-842E-14CABD99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Seguro embedded obrigatório desde o lançamento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C7B00-AB47-4965-A1CA-9E9BFF26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O parceiro segurador cobre riscos definidos. A OutZila reduz risco com processo e evidência.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E25C0-9DAC-4FD4-B7E5-D1EDD79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5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CDE71-56C8-48B0-9A8D-B46BFC2A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Dano acidental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20AF9-25E4-46B5-99E5-92119A6C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Furto ou roubo por terceiro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9B1B7-9779-41B3-9091-99C74F9D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Perda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9D9A4-34E4-4721-AF66-DC9CF3CB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540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5403B"/>
                </a:solidFill>
                <a:latin typeface="Arial"/>
                <a:ea typeface="Arial"/>
                <a:cs typeface="Arial"/>
              </a:rPr>
              <a:t>Não restituição ou apropriação ilegítima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FC2AE-B00F-4CF3-8505-885DFDFE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O arrendatário paga 100% do prémio. O prémio médio de 10% do aluguer e uma comissão de distribuição de 10% são hipóteses de modelização, não condições contratadas.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62040-FFDC-48D9-B7DF-6B3D6D1F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Não restituição é requisito de lançamento, não uma cobertura futura opcional.</a:t>
            </a:r>
          </a:p>
        </p:txBody>
      </p:sp>
    </p:spTree>
    <p:extLst>
      <p:ext uri="{BB962C8B-B14F-4D97-AF65-F5344CB8AC3E}">
        <p14:creationId xmlns:p14="http://schemas.microsoft.com/office/powerpoint/2010/main" val="589018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48795-3EAD-4637-9282-0A79405D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OUTZILA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8DB95-081B-4983-86C0-70DEB9C5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Portugal valida o produto. A ambição é europeia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07172-1041-4B3E-AA0A-5DB64604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O parceiro segurador deve poder acompanhar a expansão após o piloto controlado.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271A0-F7B7-448B-8C63-28A33C4E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5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13D20-B3A6-42D5-8044-25384CF7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Portugal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E5CBD-832F-40EE-A6AB-FA8F47EB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Piloto operacional e segurador</a:t>
            </a:r>
          </a:p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1.500 operações nos primeiros 12 meses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2A312-486B-4D69-960F-BDFCD8CA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Espanha</a:t>
            </a:r>
          </a:p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França</a:t>
            </a:r>
          </a:p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Alemanha</a:t>
            </a:r>
          </a:p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Itália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5AB3A-7733-42FF-A938-E50568B1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Mercados prioritários seguintes</a:t>
            </a:r>
          </a:p>
        </p:txBody>
      </p:sp>
    </p:spTree>
    <p:extLst>
      <p:ext uri="{BB962C8B-B14F-4D97-AF65-F5344CB8AC3E}">
        <p14:creationId xmlns:p14="http://schemas.microsoft.com/office/powerpoint/2010/main" val="1581227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95F72-4AB2-4B1B-B570-A41BBDA1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OUTZILA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BF759-A4E6-44A0-84B4-897BBC80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Plano económico de referência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2EEE2-F7D3-48B8-8B9A-F5FEF611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Cenário base. Valores em EUR. Salários e itens não modelados ficam fora desta fase.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35DBE-9A37-43F4-BE70-EBB4A1A9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5A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362200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4572000"/>
                <a:gridCol w="2028825"/>
                <a:gridCol w="2028825"/>
                <a:gridCol w="2038350"/>
              </a:tblGrid>
              <a:tr h="476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Indicador</a:t>
                      </a:r>
                    </a:p>
                  </a:txBody>
                  <a:tcPr marL="91440" marR="91440" marT="45720" marB="45720">
                    <a:solidFill>
                      <a:srgbClr val="102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 1</a:t>
                      </a:r>
                    </a:p>
                  </a:txBody>
                  <a:tcPr marL="91440" marR="91440" marT="45720" marB="45720">
                    <a:solidFill>
                      <a:srgbClr val="102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 2</a:t>
                      </a:r>
                    </a:p>
                  </a:txBody>
                  <a:tcPr marL="91440" marR="91440" marT="45720" marB="45720">
                    <a:solidFill>
                      <a:srgbClr val="102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 3</a:t>
                      </a:r>
                    </a:p>
                  </a:txBody>
                  <a:tcPr marL="91440" marR="91440" marT="45720" marB="45720">
                    <a:solidFill>
                      <a:srgbClr val="10233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Operações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1.500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7.500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25.000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GMV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225.000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1.237.500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4.500.000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Receita OutZila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47.250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259.875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945.000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Custos totais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50.875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137.625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335"/>
                          </a:solidFill>
                          <a:latin typeface="Arial"/>
                          <a:ea typeface="Arial"/>
                          <a:cs typeface="Arial"/>
                        </a:rPr>
                        <a:t>363.250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D7A5A"/>
                          </a:solidFill>
                          <a:latin typeface="Arial"/>
                          <a:ea typeface="Arial"/>
                          <a:cs typeface="Arial"/>
                        </a:rPr>
                        <a:t>Resultado operacional indicativo</a:t>
                      </a:r>
                    </a:p>
                  </a:txBody>
                  <a:tcPr marL="91440" marR="91440" marT="45720" marB="45720">
                    <a:solidFill>
                      <a:srgbClr val="E9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D7A5A"/>
                          </a:solidFill>
                          <a:latin typeface="Arial"/>
                          <a:ea typeface="Arial"/>
                          <a:cs typeface="Arial"/>
                        </a:rPr>
                        <a:t>-3.625</a:t>
                      </a:r>
                    </a:p>
                  </a:txBody>
                  <a:tcPr marL="91440" marR="91440" marT="45720" marB="45720">
                    <a:solidFill>
                      <a:srgbClr val="E9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D7A5A"/>
                          </a:solidFill>
                          <a:latin typeface="Arial"/>
                          <a:ea typeface="Arial"/>
                          <a:cs typeface="Arial"/>
                        </a:rPr>
                        <a:t>122.250</a:t>
                      </a:r>
                    </a:p>
                  </a:txBody>
                  <a:tcPr marL="91440" marR="91440" marT="45720" marB="45720">
                    <a:solidFill>
                      <a:srgbClr val="E9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D7A5A"/>
                          </a:solidFill>
                          <a:latin typeface="Arial"/>
                          <a:ea typeface="Arial"/>
                          <a:cs typeface="Arial"/>
                        </a:rPr>
                        <a:t>581.750</a:t>
                      </a:r>
                    </a:p>
                  </a:txBody>
                  <a:tcPr marL="91440" marR="91440" marT="45720" marB="45720">
                    <a:solidFill>
                      <a:srgbClr val="E9F1E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D5031-D17D-45AD-8DA5-1801D6E4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 receita inclui 20% de comissão marketplace e uma hipótese de 10% de remuneração sobre o prémio de seguro.</a:t>
            </a:r>
          </a:p>
        </p:txBody>
      </p:sp>
    </p:spTree>
    <p:extLst>
      <p:ext uri="{BB962C8B-B14F-4D97-AF65-F5344CB8AC3E}">
        <p14:creationId xmlns:p14="http://schemas.microsoft.com/office/powerpoint/2010/main" val="590340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79026-30CD-400A-A69B-7C0081A6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OUTZILA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94C9A-3A49-44EF-B24F-03BA2CE4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O parceiro que procuramos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60027-99A3-4750-8F96-A5B5AD1D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Uma seguradora que ajude a desenhar, operar e escalar o produto.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8686F-2AF0-45FC-A9EC-5D81135F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A5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07B94-8971-4CED-B05C-1B86AC0F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5"/>
                </a:solidFill>
                <a:latin typeface="Arial"/>
                <a:ea typeface="Arial"/>
                <a:cs typeface="Arial"/>
              </a:rPr>
              <a:t>Desenho de cobertura específico para aluguer P2P outdoor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4F6AF-E4F0-4364-8B74-37F0E943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5"/>
                </a:solidFill>
                <a:latin typeface="Arial"/>
                <a:ea typeface="Arial"/>
                <a:cs typeface="Arial"/>
              </a:rPr>
              <a:t>Embedded insurance no fluxo de reserva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CA484-7C03-4AB6-B669-346FE282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28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5"/>
                </a:solidFill>
                <a:latin typeface="Arial"/>
                <a:ea typeface="Arial"/>
                <a:cs typeface="Arial"/>
              </a:rPr>
              <a:t>Emissão e gestão através de API ou processo digital equivalente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4499E-356B-4B00-865F-ECE28611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5"/>
                </a:solidFill>
                <a:latin typeface="Arial"/>
                <a:ea typeface="Arial"/>
                <a:cs typeface="Arial"/>
              </a:rPr>
              <a:t>Pricing por categoria, valor, duração, risco e franquia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235D4-61E2-44DA-9241-4714B0EA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5"/>
                </a:solidFill>
                <a:latin typeface="Arial"/>
                <a:ea typeface="Arial"/>
                <a:cs typeface="Arial"/>
              </a:rPr>
              <a:t>Sinistros simples e digitais com intervenção humana quando necessária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F4537-665E-4DB5-BB99-51C895BB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3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5"/>
                </a:solidFill>
                <a:latin typeface="Arial"/>
                <a:ea typeface="Arial"/>
                <a:cs typeface="Arial"/>
              </a:rPr>
              <a:t>Capacidade de apoiar Portugal e a expansão europeia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732B2-A5B7-494E-AF3F-E78C10D4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A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7A5A"/>
                </a:solidFill>
                <a:latin typeface="Arial"/>
                <a:ea typeface="Arial"/>
                <a:cs typeface="Arial"/>
              </a:rPr>
              <a:t>O primeiro passo é um piloto português com catálogo, valores, regras e métricas limitadas.</a:t>
            </a:r>
          </a:p>
        </p:txBody>
      </p:sp>
    </p:spTree>
    <p:extLst>
      <p:ext uri="{BB962C8B-B14F-4D97-AF65-F5344CB8AC3E}">
        <p14:creationId xmlns:p14="http://schemas.microsoft.com/office/powerpoint/2010/main" val="1540182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2026-09-22T08:16:10.8390000Z</dcterms:created>
  <dcterms:modified xsi:type="dcterms:W3CDTF">2026-09-22T08:16:10.8400000Z</dcterms:modified>
</coreProperties>
</file>